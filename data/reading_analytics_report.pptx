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0F4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0F4FF"/>
                </a:solidFill>
                <a:latin typeface="Arial"/>
              </a:rPr>
              <a:t>Thể loại phổ biến nhất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Lượt đọc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0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7255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8111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Tâm lý</c:v>
                  </c:pt>
                  <c:pt idx="1">
                    <c:v>Kỹ năng sống</c:v>
                  </c:pt>
                  <c:pt idx="2">
                    <c:v>Văn học</c:v>
                  </c:pt>
                  <c:pt idx="3">
                    <c:v>Kinh tế</c:v>
                  </c:pt>
                  <c:pt idx="4">
                    <c:v>Lịch sử</c:v>
                  </c:pt>
                  <c:pt idx="5">
                    <c:v>Khoa học</c:v>
                  </c:pt>
                  <c:pt idx="6">
                    <c:v>Trinh thám</c:v>
                  </c:pt>
                  <c:pt idx="7">
                    <c:v>Thiếu nhi</c:v>
                  </c:pt>
                  <c:pt idx="8">
                    <c:v>Tôn giáo</c:v>
                  </c:pt>
                  <c:pt idx="9">
                    <c:v>Ngoại ngữ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</c:v>
                </c:pt>
                <c:pt idx="1">
                  <c:v>76</c:v>
                </c:pt>
                <c:pt idx="2">
                  <c:v>71</c:v>
                </c:pt>
                <c:pt idx="3">
                  <c:v>65</c:v>
                </c:pt>
                <c:pt idx="4">
                  <c:v>58</c:v>
                </c:pt>
                <c:pt idx="5">
                  <c:v>52</c:v>
                </c:pt>
                <c:pt idx="6">
                  <c:v>48</c:v>
                </c:pt>
                <c:pt idx="7">
                  <c:v>44</c:v>
                </c:pt>
                <c:pt idx="8">
                  <c:v>38</c:v>
                </c:pt>
                <c:pt idx="9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0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192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0F4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0F4FF"/>
                </a:solidFill>
                <a:latin typeface="Arial"/>
              </a:rPr>
              <a:t>Phân bố trạng thái đọc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Trạng thái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Đã đọc xong</c:v>
                </c:pt>
                <c:pt idx="1">
                  <c:v>Đang đọc</c:v>
                </c:pt>
                <c:pt idx="2">
                  <c:v>Chưa đọc xong</c:v>
                </c:pt>
                <c:pt idx="3">
                  <c:v>Chưa bắt đầu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9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2A4A">
              <a:alpha val="60000"/>
            </a:srgbClr>
          </a:solidFill>
          <a:ln w="12700">
            <a:solidFill>
              <a:srgbClr val="0D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D3060">
              <a:alpha val="50000"/>
            </a:srgbClr>
          </a:solidFill>
          <a:ln w="12700">
            <a:solidFill>
              <a:srgbClr val="0D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5039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9144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NHÓM 5 · HỌC KỲ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Hệ thống phân tích hành vi đọc sách &amp; gợi ý thông minh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Báo cáo tiến độ Bài tập lớn  •  Môn: Khai phá dữ liệu  •  04/2025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BÁO CÁO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00584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029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dự án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Mục tiêu, phạm vi và bộ dữ liệu sử dụng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206240" cy="100584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94560"/>
            <a:ext cx="5029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Công nghệ, luồng xử lý và cấu trúc ứng dụng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4206240" cy="100584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83280"/>
            <a:ext cx="5029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tính năng đã hoàn thiện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Dashboard, phân tích &amp; hệ thống gợi 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4206240" cy="100584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05840"/>
            <a:ext cx="5029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dữ liệu nổi bật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KPIs, hành vi đọc và phân nhóm người dùng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4206240" cy="100584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94560"/>
            <a:ext cx="50292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&amp; Kế hoạch tiếp theo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Phần đã làm, đang làm và việc còn lại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TỔNG QUAN DỰ ÁN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74904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Mục tiêu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Xây dựng dashboard phân tích toàn diện dữ liệu đọc sách của 50 người dùng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19456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396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Trực quan hóa hành vi đọc theo thể loại, nhóm tuổi, xu hướng thời gian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761488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066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Triển khai thuật toán gợi ý sách (Collaborative &amp; Genre-Based Filtering)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735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Phân nhóm người dùng bằng KMeans Clustering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89534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0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Tích hợp chatbot hỏi đáp dữ liệu thông minh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114800" cy="169164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64008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24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Bộ dữ liệu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463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Người dùng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1463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0644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Đầu sách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1463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Thể loại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26680" y="1463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72668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Bản ghi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788920"/>
            <a:ext cx="4114800" cy="18745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26080"/>
            <a:ext cx="64008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98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Công nghệ sử dụng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00600" y="3401568"/>
            <a:ext cx="1874520" cy="320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Python  ·  Ngôn ngữ chính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3401568"/>
            <a:ext cx="1874520" cy="320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Streamlit  ·  UI Framework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785616"/>
            <a:ext cx="1874520" cy="320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Plotly  ·  Trực quan hóa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3785616"/>
            <a:ext cx="1874520" cy="320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Pandas / NumPy  ·  Xử lý dữ liệu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4169664"/>
            <a:ext cx="1874520" cy="320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1696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scikit-learn  ·  Machine Learning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4169664"/>
            <a:ext cx="1874520" cy="320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1696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Prophet  ·  Dự báo xu hướng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KIẾN TRÚC HỆ THỐNG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356616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202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F4FF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books.csv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19072"/>
            <a:ext cx="16002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cleaned_dataset.csv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6974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26151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914400"/>
            <a:ext cx="1920240" cy="356616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914400"/>
            <a:ext cx="192024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914400"/>
            <a:ext cx="64008" cy="3566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9326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F4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463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Pandas cleaning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1719072"/>
            <a:ext cx="16002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965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221992"/>
            <a:ext cx="16002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468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Age grouping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26974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6151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914400"/>
            <a:ext cx="1920240" cy="356616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914400"/>
            <a:ext cx="1920240" cy="411480"/>
          </a:xfrm>
          <a:prstGeom prst="rect">
            <a:avLst/>
          </a:prstGeom>
          <a:solidFill>
            <a:srgbClr val="2A1E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914400"/>
            <a:ext cx="64008" cy="3566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326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F4FF"/>
                </a:solidFill>
              </a:rPr>
              <a:t>ANALYTICS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1463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KMeans Clustering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719072"/>
            <a:ext cx="16002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65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Cosine Similarity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221992"/>
            <a:ext cx="16002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468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Prophet Forecast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26974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552" y="26151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914400"/>
            <a:ext cx="1920240" cy="356616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0" y="914400"/>
            <a:ext cx="1920240" cy="411480"/>
          </a:xfrm>
          <a:prstGeom prst="rect">
            <a:avLst/>
          </a:prstGeom>
          <a:solidFill>
            <a:srgbClr val="3A1E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914400"/>
            <a:ext cx="64008" cy="35661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9326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F4FF"/>
                </a:solidFill>
              </a:rPr>
              <a:t>PRESENTATION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1463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Streamlit Dashboard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1719072"/>
            <a:ext cx="16002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1965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Plotly Charts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2221992"/>
            <a:ext cx="16002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468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Chat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Luồng dữ liệu: CSV Input  →  Data Cleaning  →  ML Analysis  →  Interactive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TÍNH NĂNG ĐÃ HOÀN THIỆN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987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KPI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307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chỉ số chính: tổng user, sách, rating TB, drop rate, sách/user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22192" y="98755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9601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987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Heatmap Tuổi × Thể loại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307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Phân tích hành vi đọc theo nhóm tuổi và thể loại sách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57032" y="98755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38528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198424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Top Books Ranking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Bảng xếp hạng sách phổ biến với slider điều chỉnh số lượng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22192" y="20116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98424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KMeans Clustering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Phân nhóm 50 users theo rating, số sách đọc và drop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57032" y="20116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62656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00837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560" y="3035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Gợi ý sách (2 thuật toán)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3558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Collaborative Filtering (Cosine) &amp; Genre-Based Filtering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22192" y="30358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62656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00837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0" y="3035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Cohort &amp; Retention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33558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Phân tích retention theo tháng với heatmap và đường cong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57032" y="30358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03250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51560" y="4059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Time Series &amp; Forecast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43799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Xu hướng đọc sách + dự báo 30 ngày bằng Prophet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22192" y="405993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986784"/>
            <a:ext cx="4206240" cy="91440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403250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0" y="4059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AI Chat với dữ liệu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43799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Chatbot rule-based + tích hợp OpenAI GPT cho câu hỏi nâng cao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57032" y="405993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Hoàn thành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PHÂN TÍCH DỮ LIỆU NỔI BẬT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600200" cy="9601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9968" y="914400"/>
            <a:ext cx="1600200" cy="9601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9968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29968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Đầu sách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39896" y="914400"/>
            <a:ext cx="1600200" cy="9601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9896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39896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Rating TB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9824" y="914400"/>
            <a:ext cx="1600200" cy="9601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9824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49824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Drop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59752" y="914400"/>
            <a:ext cx="1600200" cy="9601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9752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59752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Sách/User TB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20040" y="205740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Chart 1" descr=""/>
          <p:cNvGraphicFramePr/>
          <p:nvPr/>
        </p:nvGraphicFramePr>
        <p:xfrm>
          <a:off x="4800600" y="2057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TIẾN ĐỘ &amp; KẾ HOẠCH TIẾP THEO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Tiến độ tổng thể: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914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85%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715060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00200"/>
            <a:ext cx="2788920" cy="3648456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00200"/>
            <a:ext cx="2788920" cy="38404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00200"/>
            <a:ext cx="64008" cy="3648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184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✅ Đã hoàn thành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029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Load &amp; clean dữ liệu (CSV)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7802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Dashboard KPI và biểu đồ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Heatmap, bar, pie charts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644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2095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KMeans User Clustering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6027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Collaborative Filtering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5079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9959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Genre-Based Recommendation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44398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Cohort &amp; Retention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83717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47823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Chat rule-based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1600200"/>
            <a:ext cx="2788920" cy="2075688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64408" y="1600200"/>
            <a:ext cx="2788920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1600200"/>
            <a:ext cx="64008" cy="2075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16184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🔄 Đang triển khai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47288" y="20848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2029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Tối ưu hóa thuật toán gợi 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47288" y="247802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Prophet Forecasting nâng cao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47288" y="28712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Tích hợp OpenAI API Chat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47288" y="32644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32095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testing &amp; code review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08776" y="1600200"/>
            <a:ext cx="2788920" cy="246888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08776" y="1600200"/>
            <a:ext cx="2788920" cy="38404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08776" y="1600200"/>
            <a:ext cx="64008" cy="2468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16184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📌 Kế hoạch tiếp theo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91656" y="20848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2029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Viết báo cáo kỹ thuật đầy đủ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91656" y="247802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56248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Slide thuyết trình hoàn chỉnh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91656" y="28712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56248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Deploy lên Streamlit Cloud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91656" y="32644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56248" y="32095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Demo live và Q&amp;A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91656" y="3657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56248" y="36027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Tài liệu hướng dẫn sử dụng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D2A4A">
              <a:alpha val="40000"/>
            </a:srgbClr>
          </a:solidFill>
          <a:ln w="12700">
            <a:solidFill>
              <a:srgbClr val="0D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6152"/>
          </a:xfrm>
          <a:prstGeom prst="rect">
            <a:avLst/>
          </a:prstGeom>
          <a:solidFill>
            <a:srgbClr val="0B11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2560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đã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lắng nghe!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4069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Reading Analytics Dashboard  ·  Môn Khai phá dữ liệu  ·  Nhóm 5  ·  04/2025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914400"/>
            <a:ext cx="3200400" cy="5029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914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</a:rPr>
              <a:t>50 Users  ·  100 Sách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572768"/>
            <a:ext cx="3200400" cy="5029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1572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</a:rPr>
              <a:t>KMeans + Cosine Similarity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2231136"/>
            <a:ext cx="3200400" cy="5029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223113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</a:rPr>
              <a:t>Streamlit + Plotly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889504"/>
            <a:ext cx="3200400" cy="5029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28895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</a:rPr>
              <a:t>Prophet Forecast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3547872"/>
            <a:ext cx="3200400" cy="502920"/>
          </a:xfrm>
          <a:prstGeom prst="rect">
            <a:avLst/>
          </a:prstGeom>
          <a:solidFill>
            <a:srgbClr val="131926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5478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</a:rPr>
              <a:t>AI Chatbot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- Reading Analytics Dashboard</dc:title>
  <dc:subject>PptxGenJS Presentation</dc:subject>
  <dc:creator>PptxGenJS</dc:creator>
  <cp:lastModifiedBy>PptxGenJS</cp:lastModifiedBy>
  <cp:revision>1</cp:revision>
  <dcterms:created xsi:type="dcterms:W3CDTF">2026-04-21T00:43:32Z</dcterms:created>
  <dcterms:modified xsi:type="dcterms:W3CDTF">2026-04-21T00:43:32Z</dcterms:modified>
</cp:coreProperties>
</file>